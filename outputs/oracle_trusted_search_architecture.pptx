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f998dcdac84333" /><Relationship Type="http://schemas.openxmlformats.org/officeDocument/2006/relationships/extended-properties" Target="/docProps/app.xml" Id="R6d8f48ce22be42a6" /><Relationship Type="http://schemas.openxmlformats.org/officeDocument/2006/relationships/officeDocument" Target="/ppt/presentation.xml" Id="Rce51d88fc98943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e6a01590b548c3"/>
  </p:sldMasterIdLst>
  <p:notesMasterIdLst>
    <p:notesMasterId xmlns:r="http://schemas.openxmlformats.org/officeDocument/2006/relationships" r:id="Ra8daa8cf6e7f4e81"/>
  </p:notesMasterIdLst>
  <p:sldIdLst>
    <p:sldId xmlns:r="http://schemas.openxmlformats.org/officeDocument/2006/relationships" id="256" r:id="R90c066de4f6b483b"/>
    <p:sldId xmlns:r="http://schemas.openxmlformats.org/officeDocument/2006/relationships" id="257" r:id="R50a826ebb8944c37"/>
    <p:sldId xmlns:r="http://schemas.openxmlformats.org/officeDocument/2006/relationships" id="258" r:id="Rf93bf59b138e48af"/>
    <p:sldId xmlns:r="http://schemas.openxmlformats.org/officeDocument/2006/relationships" id="259" r:id="R153a546e035f4a93"/>
    <p:sldId xmlns:r="http://schemas.openxmlformats.org/officeDocument/2006/relationships" id="260" r:id="R810bfb638acd4c85"/>
    <p:sldId xmlns:r="http://schemas.openxmlformats.org/officeDocument/2006/relationships" id="261" r:id="R5bc2cc55011c4994"/>
    <p:sldId xmlns:r="http://schemas.openxmlformats.org/officeDocument/2006/relationships" id="262" r:id="R29c836ff2dc94d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6a01590b548c3" /><Relationship Type="http://schemas.openxmlformats.org/officeDocument/2006/relationships/theme" Target="/ppt/theme/theme1.xml" Id="Rb062d0ebd472405f" /><Relationship Type="http://schemas.openxmlformats.org/officeDocument/2006/relationships/notesMaster" Target="/ppt/notesMasters/notesMaster1.xml" Id="Ra8daa8cf6e7f4e81" /><Relationship Type="http://schemas.openxmlformats.org/officeDocument/2006/relationships/presProps" Target="/ppt/presProps.xml" Id="Rbd3008975e674885" /><Relationship Type="http://schemas.openxmlformats.org/officeDocument/2006/relationships/viewProps" Target="/ppt/viewProps.xml" Id="R0d33f35a67144c47" /><Relationship Type="http://schemas.openxmlformats.org/officeDocument/2006/relationships/tableStyles" Target="/ppt/tableStyles.xml" Id="R5320a5cada8143da" /><Relationship Type="http://schemas.openxmlformats.org/officeDocument/2006/relationships/slide" Target="/ppt/slides/slide1.xml" Id="R90c066de4f6b483b" /><Relationship Type="http://schemas.openxmlformats.org/officeDocument/2006/relationships/slide" Target="/ppt/slides/slide2.xml" Id="R50a826ebb8944c37" /><Relationship Type="http://schemas.openxmlformats.org/officeDocument/2006/relationships/slide" Target="/ppt/slides/slide3.xml" Id="Rf93bf59b138e48af" /><Relationship Type="http://schemas.openxmlformats.org/officeDocument/2006/relationships/slide" Target="/ppt/slides/slide4.xml" Id="R153a546e035f4a93" /><Relationship Type="http://schemas.openxmlformats.org/officeDocument/2006/relationships/slide" Target="/ppt/slides/slide5.xml" Id="R810bfb638acd4c85" /><Relationship Type="http://schemas.openxmlformats.org/officeDocument/2006/relationships/slide" Target="/ppt/slides/slide6.xml" Id="R5bc2cc55011c4994" /><Relationship Type="http://schemas.openxmlformats.org/officeDocument/2006/relationships/slide" Target="/ppt/slides/slide7.xml" Id="R29c836ff2dc94d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dae64e0f52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020bf42c294bf8" /><Relationship Type="http://schemas.openxmlformats.org/officeDocument/2006/relationships/notesMaster" Target="/ppt/notesMasters/notesMaster1.xml" Id="R94bd8ccd9eb145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0e9606774e4297" /><Relationship Type="http://schemas.openxmlformats.org/officeDocument/2006/relationships/notesMaster" Target="/ppt/notesMasters/notesMaster1.xml" Id="Re5237c3529634b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43c6d4c2884141" /><Relationship Type="http://schemas.openxmlformats.org/officeDocument/2006/relationships/notesMaster" Target="/ppt/notesMasters/notesMaster1.xml" Id="R383a724487d5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f6b25e4cd486c" /><Relationship Type="http://schemas.openxmlformats.org/officeDocument/2006/relationships/notesMaster" Target="/ppt/notesMasters/notesMaster1.xml" Id="Rac95774206ca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7c4be2cf7142c2" /><Relationship Type="http://schemas.openxmlformats.org/officeDocument/2006/relationships/notesMaster" Target="/ppt/notesMasters/notesMaster1.xml" Id="R9f45b71a3db9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3020bff554373" /><Relationship Type="http://schemas.openxmlformats.org/officeDocument/2006/relationships/notesMaster" Target="/ppt/notesMasters/notesMaster1.xml" Id="R63cdd5896af3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7375e360cd45e5" /><Relationship Type="http://schemas.openxmlformats.org/officeDocument/2006/relationships/notesMaster" Target="/ppt/notesMasters/notesMaster1.xml" Id="R5adc9ce052ff4c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0d9a14ba841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490EFD9-28EE-4E10-ADDF-CAC4AAFFDEF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398EA64-BC45-40FD-9E06-5A8595D61F7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22508C-A871-471F-B7A1-61CDCA0B7C7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A20268-70DC-48A2-AC2A-591723F5D7E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5a75007c504079" /><Relationship Type="http://schemas.openxmlformats.org/officeDocument/2006/relationships/slideLayout" Target="/ppt/slideLayouts/slideLayout2.xml" Id="R8b122478643d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3D647F-CF64-4F85-AD98-3D43F83DF97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22478643d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5472d2a5b44ac" /><Relationship Type="http://schemas.openxmlformats.org/officeDocument/2006/relationships/notesSlide" Target="/ppt/notesSlides/notesSlide1.xml" Id="Rad0c6711287d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4032561734a57" /><Relationship Type="http://schemas.openxmlformats.org/officeDocument/2006/relationships/notesSlide" Target="/ppt/notesSlides/notesSlide2.xml" Id="R3921722a60d6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1bf14a1814f9b" /><Relationship Type="http://schemas.openxmlformats.org/officeDocument/2006/relationships/notesSlide" Target="/ppt/notesSlides/notesSlide3.xml" Id="Re1fa966334e0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7fbed56f14394" /><Relationship Type="http://schemas.openxmlformats.org/officeDocument/2006/relationships/notesSlide" Target="/ppt/notesSlides/notesSlide4.xml" Id="R1056d258f7e242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e1d10c6ab44cff" /><Relationship Type="http://schemas.openxmlformats.org/officeDocument/2006/relationships/notesSlide" Target="/ppt/notesSlides/notesSlide5.xml" Id="R37ef6a80dc74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72cabb6504abc" /><Relationship Type="http://schemas.openxmlformats.org/officeDocument/2006/relationships/notesSlide" Target="/ppt/notesSlides/notesSlide6.xml" Id="R4b8b7d8ad6444f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dbf2fcb8494755" /><Relationship Type="http://schemas.openxmlformats.org/officeDocument/2006/relationships/notesSlide" Target="/ppt/notesSlides/notesSlide7.xml" Id="R00c7974d04aa46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0689C-2000-42D8-8C5C-A57D3F2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586740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8376A-419F-49A9-A932-919A8FC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76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09A11-51C5-4971-8D83-D2AEAA5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Oracle Protection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A3DE5-8B5C-4479-AC14-716CD6A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2A33"/>
                </a:solidFill>
              </a:defRPr>
            </a:pPr>
            <a:r>
              <a:rPr sz="3600" b="1">
                <a:solidFill>
                  <a:srgbClr val="1E2A33"/>
                </a:solidFill>
              </a:rPr>
              <a:t>Trusted Search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D3FEF-D666-43A6-9CE3-108B369C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77"/>
                </a:solidFill>
              </a:defRPr>
            </a:pPr>
            <a:r>
              <a:rPr sz="1650" b="0">
                <a:solidFill>
                  <a:srgbClr val="5E6C77"/>
                </a:solidFill>
              </a:rPr>
              <a:t>A local, grounded application that crawls public Oracle RMAN and ZDLRA content, builds hybrid indexes, and answers questions with cited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74612-74FF-4425-97E3-B2884A6D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248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54BFC-61B0-4CEB-9D70-0B143DEE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54B80-41E1-44DA-B23C-0BB20FC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0798D-CA24-4644-95FC-47D01DD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90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Explain how the application acquires Oracle content, stores it locally, retrieves evidence, and produces citation-backed answers in a browser 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B1BB0-8F46-4E08-9D07-28252B4A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4248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72C0F-E2A4-4ADA-87AD-78F283D5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7F4C3-DDA2-43C7-9BDB-B6DF416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053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Current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D77FC-1DAE-4B75-A294-32D493FA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86300"/>
            <a:ext cx="390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Public Oracle docs are cached locally, indexed into SQLite FTS plus a persisted vector file, and exposed through a lightweight local web 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4B3A9-FF7C-411A-B56C-25EE564A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43000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D8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64388-82AC-4166-B9C5-0A234AD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4F64"/>
                </a:solidFill>
              </a:defRPr>
            </a:pPr>
            <a:r>
              <a:rPr sz="2850" b="1">
                <a:solidFill>
                  <a:srgbClr val="1F4F64"/>
                </a:solidFill>
              </a:rPr>
              <a:t>92</a:t>
            </a:r>
          </a:p>
          <a:p xmlns:a="http://schemas.openxmlformats.org/drawingml/2006/main">
            <a:pPr algn="ctr">
              <a:defRPr sz="2850" b="1">
                <a:solidFill>
                  <a:srgbClr val="1F4F64"/>
                </a:solidFill>
              </a:defRPr>
            </a:pPr>
            <a:r>
              <a:rPr sz="2850" b="1">
                <a:solidFill>
                  <a:srgbClr val="1F4F64"/>
                </a:solidFill>
              </a:rPr>
              <a:t>documents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7250F-ED8A-4DD3-8DBA-A1A02899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4F64"/>
                </a:solidFill>
              </a:defRPr>
            </a:pPr>
            <a:r>
              <a:rPr sz="1275" b="0">
                <a:solidFill>
                  <a:srgbClr val="1F4F64"/>
                </a:solidFill>
              </a:rPr>
              <a:t>1,404 indexed chunks</a:t>
            </a:r>
          </a:p>
          <a:p xmlns:a="http://schemas.openxmlformats.org/drawingml/2006/main">
            <a:pPr algn="ctr">
              <a:defRPr sz="1275" b="0">
                <a:solidFill>
                  <a:srgbClr val="1F4F64"/>
                </a:solidFill>
              </a:defRPr>
            </a:pPr>
            <a:r>
              <a:rPr sz="1275" b="0">
                <a:solidFill>
                  <a:srgbClr val="1F4F64"/>
                </a:solidFill>
              </a:rPr>
              <a:t>built from Oracle public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79A66-5309-4C02-A826-72F95C45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Deck generated locally from the current workspace architecture and Oracle index build state.</a:t>
            </a:r>
          </a:p>
        </p:txBody>
      </p:sp>
    </p:spTree>
    <p:extLst>
      <p:ext uri="{BB962C8B-B14F-4D97-AF65-F5344CB8AC3E}">
        <p14:creationId xmlns:p14="http://schemas.microsoft.com/office/powerpoint/2010/main" val="642430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1881F-2DF6-420D-90B7-BB7FCC5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FEB8C-27BB-4FFE-9C03-362B71C2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APPLICATION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30CAF-3FF2-4EEE-89AA-E46D3C5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3"/>
                </a:solidFill>
              </a:defRPr>
            </a:pPr>
            <a:r>
              <a:rPr sz="2550" b="1">
                <a:solidFill>
                  <a:srgbClr val="1E2A33"/>
                </a:solidFill>
              </a:rPr>
              <a:t>What the application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7234D-BD6F-403D-938F-A601D46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It combines public-source Oracle content, hybrid retrieval, and a local Q&amp;A interface to keep answers inspectable.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48A7C-6C73-4EF1-8766-66023822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60BA-0CEB-4D37-96AC-44E7F9D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3461B-63DA-4DD1-8D69-BF51B5BA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1. Acquire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95684-4C25-4CAC-9BCD-30E1975F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A curated manifest seeds Oracle docs, Recovery Appliance pages, and selected public Oracle 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385C7-6635-488F-939B-BE29F08A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C84DE-7C1A-4BD0-8832-582D5AC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25C6B-EE4B-4F1A-9200-469A3530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2. Build local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7EC3E-2154-4B6A-9868-36DADDD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Fetched pages are cached as local JSON, then chunked and indexed into a lexical store plus a vector store.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F6C76-62B5-4D31-A05D-13DD8331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276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9AC9D-6F8B-40E8-B8A8-DB9F309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9F6D4-B22F-4029-BAA6-ABDCAE5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3. Answer with citations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824A8-8C89-48FA-AB97-7B69E33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Questions run through BM25 and vector search, then the UI shows both the answer and the underlying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D3BDE-8A79-41FC-B871-3DC216C5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194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9EBCD-5D94-4B83-B372-4B6AAAB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E7619-CF6E-4960-A801-52506C8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Grounded on actual local indexes instead of prompt-only context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Citations point to original Oracle URLs and cached chunk line ranges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Runs entirely on the laptop except during the optional web crawl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9E2BD-B808-4D0E-9A49-2F5205F4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Core application files: web_ingest.py, engine.py, cli.py, app.py, and data/oracle_public_sources.json</a:t>
            </a:r>
          </a:p>
        </p:txBody>
      </p:sp>
    </p:spTree>
    <p:extLst>
      <p:ext uri="{BB962C8B-B14F-4D97-AF65-F5344CB8AC3E}">
        <p14:creationId xmlns:p14="http://schemas.microsoft.com/office/powerpoint/2010/main" val="1282633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385B6-A3AD-4366-9725-716407F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8235A-73ED-49A6-939B-4CA9F92B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6DC59-4CB5-4451-8DB3-C32F5CE8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3"/>
                </a:solidFill>
              </a:defRPr>
            </a:pPr>
            <a:r>
              <a:rPr sz="2550" b="1">
                <a:solidFill>
                  <a:srgbClr val="1E2A33"/>
                </a:solidFill>
              </a:rPr>
              <a:t>Architecture diagram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6FD39-C0FA-417C-8C2B-7A1BF751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The application is organized as a source layer, indexing layer, retrieval layer, and presentation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3B60A-3C8E-439F-B824-01F8A476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60EE3-B1C2-46D3-8C12-F0C8EF7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0EC5A-E0C5-4D74-BE26-BD0F1E27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Oracle public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489B8-C479-4B8A-B71D-4022E856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docs.oracle.com, Recovery Appliance docs, Oracle MAA pages, curated public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C8020-F35E-4C47-AB6F-7E549010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08548-E303-45DF-ADE7-A28B17CC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F56C5-BF06-44A2-9C34-8AD04DE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Crawler + parser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53971-546A-4A35-AB6E-1AAAAB9A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52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Allowed-domain fetcher in web_ingest.py extracts title, text, and follow-on links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DCBDE-1721-40ED-ADA2-85A60E2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AF745-4697-44FF-B043-D87B416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A1478-D13B-4847-B70A-EF1B50F7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Local corpus 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A91E7-2CE1-4FE0-A920-F8D32539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JSON documents in data/oracle_corpus preserve source_uri, text, and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C1C57-7F6C-499F-8CD1-D167E038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CD12A-6EC7-47AC-8164-BAD9E9A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27567-6CFB-4E2D-8102-39AC1DF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Index builder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C3A43-73A5-41B2-BC93-DFDC7CE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engine.py chunks content and builds search.db plus vectors.json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232CE-ACFE-4EED-96C3-C31288B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146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7DF21-2806-4FAB-B993-DA25E52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91658-15E5-4E37-B2C9-671ED7A3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146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A1909-7D84-44DE-A5FD-2CA8168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3D0F0-6E46-4E4F-A4C7-4B0ABC4E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38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944096-2D06-47F3-9FE3-A6769C1B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SQLite FTS5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458A5-8DD6-4153-9B6D-D3F5851B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72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Lexical/BM25-style retrieval over chunk 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D792F-EE42-4198-A080-C3E95709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0E95F-1569-4243-8C81-05D5188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38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167E4-84BC-4DA9-BAF1-F9CEE02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Vector index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FFE029-DF78-49A7-A08B-103C46A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Persisted local dense vectors for semantic similarity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D5CC68-08FC-4992-B285-35C35404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DC56DA-9138-4148-8A64-B27193E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1C458-BE84-4DA7-A99C-B6B5A25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911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Hybrid search engine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82C849-026B-45DE-83D8-052E0F60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72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Runs both searches and merges them with reciprocal-rank fusion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5817C-650B-468C-87E9-487C633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67250"/>
            <a:ext cx="2171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08658-8039-48FD-896C-8B1A8C3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387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BBFD68-98B6-4624-84E1-7403BCE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911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Local web UI + 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D3CEF6-55C5-41D0-874B-FEE6EEFF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72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Browser Q&amp;A at / with /search and /answer routes in app.py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BC494C-B918-4FB8-BF89-BCB8C83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24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5FDB6-7B41-42F3-B474-499BF73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8A6495-BA78-4063-A317-2D022C18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24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639170-B771-406B-AFB9-9D8678F6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Everything after the crawl is local: corpus cache, indexes, retrieval, and the Q&amp;A web interface.</a:t>
            </a:r>
          </a:p>
        </p:txBody>
      </p:sp>
    </p:spTree>
    <p:extLst>
      <p:ext uri="{BB962C8B-B14F-4D97-AF65-F5344CB8AC3E}">
        <p14:creationId xmlns:p14="http://schemas.microsoft.com/office/powerpoint/2010/main" val="1393408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D2964-A2A5-43EA-97E4-DF98E7A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1015D-109D-4ADD-9324-18F53D8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MERMAID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12805-42F3-4A45-ADC2-29D0CD2E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3"/>
                </a:solidFill>
              </a:defRPr>
            </a:pPr>
            <a:r>
              <a:rPr sz="2550" b="1">
                <a:solidFill>
                  <a:srgbClr val="1E2A33"/>
                </a:solidFill>
              </a:rPr>
              <a:t>Mermaid architecture flow captured in PowerPoint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40ED3-8238-4A97-9528-043C6F47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This slide recreates the Mermaid diagram as editable PowerPoint shapes so it remains presentation-friendly.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819D9-E0FB-4D80-B69F-11E7AC15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39457-6E1F-4F9E-A219-77D91B74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C916A-4B92-4105-AF55-93AF176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Oracle public sources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A22BA-D116-4E1A-8240-DA172A46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241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9FB"/>
          </a:solidFill>
          <a:ln xmlns:a="http://schemas.openxmlformats.org/drawingml/2006/main" w="11430">
            <a:solidFill>
              <a:srgbClr val="D8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5A9B8-666F-41C5-A6D8-A8E8EC3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E42F9-47C7-43B2-98BF-D3844994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908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Web crawler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2DE25-00A1-436B-A137-8439462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C6A8A-315B-4B79-8520-5B22BE66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2A735-12EB-43DD-9660-9CD8215F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90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Local cached corpus (JSON)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96F32-6D73-4670-B24F-E157CB0F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9FB"/>
          </a:solidFill>
          <a:ln xmlns:a="http://schemas.openxmlformats.org/drawingml/2006/main" w="11430">
            <a:solidFill>
              <a:srgbClr val="D8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ED936-54BF-436F-AE17-F371F08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1828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B2E67-C6A0-471A-A813-65EFE96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Chunking + metadata extraction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4D7B7-B261-4DDC-9F5D-9DF1FB48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03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D8E8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1A9F5-C80F-42B2-BB55-2D34B44F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03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E8F8C-6FF0-49EA-9AD6-66D7570C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D8E8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5923B-03A3-4FF1-8742-A2C40969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577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9FB"/>
          </a:solidFill>
          <a:ln xmlns:a="http://schemas.openxmlformats.org/drawingml/2006/main" w="11430">
            <a:solidFill>
              <a:srgbClr val="D8E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1F923-06C1-4A98-AB64-DFE0F6AE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26EF6-F6FC-458F-B3DC-169F42B5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SQLite FTS5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30B2C-12AA-49C4-A6F7-79D9337B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1733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D37D7-4EB7-4C9B-9B3A-8E70B59B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910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9F81E-8121-485B-9AC6-BAA0B2D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2440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Local vector index</a:t>
            </a:r>
          </a:p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(vectors.json)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4B6DE-3B14-4FCD-8A0E-4E7CF382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57700"/>
            <a:ext cx="1828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9FB"/>
          </a:solidFill>
          <a:ln xmlns:a="http://schemas.openxmlformats.org/drawingml/2006/main" w="11430">
            <a:solidFill>
              <a:srgbClr val="D8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33D25-C7BB-4E71-AE12-13D3B037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A67A2-6B34-47EE-A519-6EF4DD9E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Hybrid retrieval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3BD7C-9FDD-4751-AEFE-332E21B0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57700"/>
            <a:ext cx="2038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9B4BDC-AD9F-4A64-9A61-76D1E51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91050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F5F87F-E425-42AF-9378-D2EEAA55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244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Grounded answer + citations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DAE6E8-A20E-4495-A7AC-996F9F5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339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567B88-3E44-4AA1-BA4B-81657468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339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D8E8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EE242A-8ECF-4B49-A06E-719DC2B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339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AB3159-BF47-42AC-82A7-FEB2EC9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D31B6F-0737-4816-933A-6657C2A9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26B6B0-7FE8-46E9-A9EB-A9A5C757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A33"/>
                </a:solidFill>
              </a:defRPr>
            </a:pPr>
            <a:r>
              <a:rPr sz="1350" b="1">
                <a:solidFill>
                  <a:srgbClr val="1E2A33"/>
                </a:solidFill>
              </a:rPr>
              <a:t>User question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008AD6-8907-4548-A015-94589B83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339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579F67-5B68-44E2-8772-90DF381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Equivalent Mermaid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6D388D-D1E1-404D-8BCB-2F8DD44C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C77"/>
                </a:solidFill>
              </a:defRPr>
            </a:pPr>
            <a:r>
              <a:rPr sz="1125" b="0">
                <a:solidFill>
                  <a:srgbClr val="5E6C77"/>
                </a:solidFill>
              </a:rPr>
              <a:t>manifest -&gt; crawler -&gt; corpus -&gt; chunking -&gt; {SQLite FTS5 + vector index} -&gt; hybrid retrieval -&gt; grounded answer -&gt; user-facing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EF251-D3B1-47F4-A2F1-58E10BEB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Mermaid was captured as native editable PowerPoint geometry rather than as a static screenshot.</a:t>
            </a:r>
          </a:p>
        </p:txBody>
      </p:sp>
    </p:spTree>
    <p:extLst>
      <p:ext uri="{BB962C8B-B14F-4D97-AF65-F5344CB8AC3E}">
        <p14:creationId xmlns:p14="http://schemas.microsoft.com/office/powerpoint/2010/main" val="1892912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0D019-0716-41D0-863D-A100358D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228CD-C374-4570-95BD-0C186E2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PROCESS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69E92-C951-42FD-B858-5C003D8E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3"/>
                </a:solidFill>
              </a:defRPr>
            </a:pPr>
            <a:r>
              <a:rPr sz="2550" b="1">
                <a:solidFill>
                  <a:srgbClr val="1E2A33"/>
                </a:solidFill>
              </a:rPr>
              <a:t>End-to-end data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64D19-4EA4-469E-A91D-38BBC05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A question travels through acquisition, indexing, retrieval, and answer generation before it appears in the browser.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1160F-A818-4F9B-A20F-0EC40CFC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7526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7F247-76CE-4195-98FB-9163C3E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05F1A-8FED-4C51-B584-D5D2EB7D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4F64"/>
                </a:solidFill>
              </a:defRPr>
            </a:pPr>
            <a:r>
              <a:rPr sz="1575" b="1">
                <a:solidFill>
                  <a:srgbClr val="1F4F64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34173-41DD-46F6-A2FE-F2D186D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33"/>
                </a:solidFill>
              </a:defRPr>
            </a:pPr>
            <a:r>
              <a:rPr sz="1500" b="1">
                <a:solidFill>
                  <a:srgbClr val="1E2A33"/>
                </a:solidFill>
              </a:rPr>
              <a:t>Seed 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A3108-2454-4405-8A68-4331F81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77"/>
                </a:solidFill>
              </a:defRPr>
            </a:pPr>
            <a:r>
              <a:rPr sz="1200" b="0">
                <a:solidFill>
                  <a:srgbClr val="5E6C77"/>
                </a:solidFill>
              </a:rPr>
              <a:t>Oracle source groups and allowed URL prefixes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C4B16-EDF0-4453-9203-76C57BD3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242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D8E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C6428-6D42-4094-846F-CF0ADDD7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17526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E1840-7DF2-4CE7-864A-8AC7C5D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F53DA-812C-4965-863C-6EF57878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575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A4B2F"/>
                </a:solidFill>
              </a:defRPr>
            </a:pPr>
            <a:r>
              <a:rPr sz="1575" b="1">
                <a:solidFill>
                  <a:srgbClr val="BA4B2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C3193-D4E2-4AFB-9366-241D39AA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33"/>
                </a:solidFill>
              </a:defRPr>
            </a:pPr>
            <a:r>
              <a:rPr sz="1500" b="1">
                <a:solidFill>
                  <a:srgbClr val="1E2A33"/>
                </a:solidFill>
              </a:rPr>
              <a:t>Fetch and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846C8-491C-451E-93AD-8622C01D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1955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77"/>
                </a:solidFill>
              </a:defRPr>
            </a:pPr>
            <a:r>
              <a:rPr sz="1200" b="0">
                <a:solidFill>
                  <a:srgbClr val="5E6C77"/>
                </a:solidFill>
              </a:rPr>
              <a:t>Crawler stores cleaned pages as local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15CE9-5767-4C03-8197-D7BC8073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86D3D-F252-45B5-AAA1-BB77FCF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7526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FF3D5-7F98-4253-8973-18D9E16D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95147-5653-448F-A139-AAD681E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575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4F64"/>
                </a:solidFill>
              </a:defRPr>
            </a:pPr>
            <a:r>
              <a:rPr sz="1575" b="1">
                <a:solidFill>
                  <a:srgbClr val="1F4F64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F6259-7CF8-46F5-BCCF-6B6006EA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81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33"/>
                </a:solidFill>
              </a:defRPr>
            </a:pPr>
            <a:r>
              <a:rPr sz="1500" b="1">
                <a:solidFill>
                  <a:srgbClr val="1E2A33"/>
                </a:solidFill>
              </a:rPr>
              <a:t>Chunk and 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6AF2F-22F4-4B67-AD00-3E59E3A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77"/>
                </a:solidFill>
              </a:defRPr>
            </a:pPr>
            <a:r>
              <a:rPr sz="1200" b="0">
                <a:solidFill>
                  <a:srgbClr val="5E6C77"/>
                </a:solidFill>
              </a:rPr>
              <a:t>SQLite FTS and vectors.json are generated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2C7A0-06CF-4117-8763-10D16957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D8E8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765DF-831A-4113-A16A-BD66485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0350"/>
            <a:ext cx="17526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926A6-D081-4B6A-978F-6B59C83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FF45F-4D9C-4587-B9CA-4959BA88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575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A4B2F"/>
                </a:solidFill>
              </a:defRPr>
            </a:pPr>
            <a:r>
              <a:rPr sz="1575" b="1">
                <a:solidFill>
                  <a:srgbClr val="BA4B2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3DF1D-6A76-455B-B798-0D542EF2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81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33"/>
                </a:solidFill>
              </a:defRPr>
            </a:pPr>
            <a:r>
              <a:rPr sz="1500" b="1">
                <a:solidFill>
                  <a:srgbClr val="1E2A33"/>
                </a:solidFill>
              </a:rPr>
              <a:t>Hybrid retrieve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3BCE4-C053-46E2-8716-7645311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1955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77"/>
                </a:solidFill>
              </a:defRPr>
            </a:pPr>
            <a:r>
              <a:rPr sz="1200" b="0">
                <a:solidFill>
                  <a:srgbClr val="5E6C77"/>
                </a:solidFill>
              </a:rPr>
              <a:t>BM25 + vector similarity + rank fusion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5817E-474D-40B0-83D3-C6105BC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3244D-CE1E-4A9E-9B22-7214821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7526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F3AB4-EA3D-4A16-B213-34B72CDE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D4531-D242-48CE-9B7B-607D8B14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575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4F64"/>
                </a:solidFill>
              </a:defRPr>
            </a:pPr>
            <a:r>
              <a:rPr sz="1575" b="1">
                <a:solidFill>
                  <a:srgbClr val="1F4F64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A30A62-EF56-452C-B77F-8EAE3890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A33"/>
                </a:solidFill>
              </a:defRPr>
            </a:pPr>
            <a:r>
              <a:rPr sz="1500" b="1">
                <a:solidFill>
                  <a:srgbClr val="1E2A33"/>
                </a:solidFill>
              </a:rPr>
              <a:t>Grounded answer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79CC9-37BB-4B74-998D-E8A9DD6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1955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77"/>
                </a:solidFill>
              </a:defRPr>
            </a:pPr>
            <a:r>
              <a:rPr sz="1200" b="0">
                <a:solidFill>
                  <a:srgbClr val="5E6C77"/>
                </a:solidFill>
              </a:rPr>
              <a:t>Answer text plus citations and evidence cards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0C9625-17B5-425E-8AFF-04E04ADC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00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F64"/>
                </a:solidFill>
              </a:defRPr>
            </a:pPr>
            <a:r>
              <a:rPr sz="1500" b="1">
                <a:solidFill>
                  <a:srgbClr val="1F4F64"/>
                </a:solidFill>
              </a:rPr>
              <a:t>Result: the user sees an answer that is constrained by retrieved evidence, plus citations back to the original Oracle content.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CACCA-87BA-4205-8131-2F9342CB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Retrieval confidence increases when both lexical and vector search agree on the same chunk.</a:t>
            </a:r>
          </a:p>
        </p:txBody>
      </p:sp>
    </p:spTree>
    <p:extLst>
      <p:ext uri="{BB962C8B-B14F-4D97-AF65-F5344CB8AC3E}">
        <p14:creationId xmlns:p14="http://schemas.microsoft.com/office/powerpoint/2010/main" val="240231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F7722-3E3F-4D39-A1BA-3C994A28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5121C-908E-4E63-9176-B4F6ED0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LOCAL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DF789-017A-4226-B896-A467D1AC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3"/>
                </a:solidFill>
              </a:defRPr>
            </a:pPr>
            <a:r>
              <a:rPr sz="2550" b="1">
                <a:solidFill>
                  <a:srgbClr val="1E2A33"/>
                </a:solidFill>
              </a:rPr>
              <a:t>What runs on the laptop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9B037-6239-4615-9AC3-80FC3B6A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The current build is intentionally simple: one local codebase, one local web server, one lexical index, and one local vector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D2D3C-9BC0-4D42-9698-4F842EBF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6299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6EFC9-4715-4DED-B46A-0BA81849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30099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4C741-E311-436A-B243-378FF8B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30099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3F9FB"/>
          </a:solidFill>
          <a:ln xmlns:a="http://schemas.openxmlformats.org/drawingml/2006/main" w="11430">
            <a:solidFill>
              <a:srgbClr val="D8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46B40-49A7-4B1C-AC6A-44A7500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0099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11430">
            <a:solidFill>
              <a:srgbClr val="F4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0A9E8-D8F4-4FC4-8E1C-349F50D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A33"/>
                </a:solidFill>
              </a:defRPr>
            </a:pPr>
            <a:r>
              <a:rPr sz="1650" b="1">
                <a:solidFill>
                  <a:srgbClr val="1E2A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7029A-6513-4974-9B9F-E86EAC1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apps/api/app.py serves the browser UI and JSON endpoints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trusted_search/cli.py provides build, search, answer, and crawl commands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Python process runs the retrieval engine in-process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56CDF-5545-435B-82D0-D6DE9DA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A33"/>
                </a:solidFill>
              </a:defRPr>
            </a:pPr>
            <a:r>
              <a:rPr sz="1650" b="1">
                <a:solidFill>
                  <a:srgbClr val="1E2A33"/>
                </a:solidFill>
              </a:rPr>
              <a:t>Data stores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CAB63-3523-43EE-845D-21E38E3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data/oracle_corpus stores cached Oracle pages as JSON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data/oracle_index/search.db stores SQLite FTS5 content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data/oracle_index/vectors.json stores local vector embeddings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01988-5226-4A60-935D-629B937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A33"/>
                </a:solidFill>
              </a:defRPr>
            </a:pPr>
            <a:r>
              <a:rPr sz="1650" b="1">
                <a:solidFill>
                  <a:srgbClr val="1E2A33"/>
                </a:solidFill>
              </a:rPr>
              <a:t>User touchpoints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43A51-032F-442F-B05B-4C087BC6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Browser UI at http://127.0.0.1:3000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Q&amp;A response includes answer plus evidence cards</a:t>
            </a:r>
          </a:p>
          <a:p xmlns:a="http://schemas.openxmlformats.org/drawingml/2006/main">
            <a:pPr marL="285750" indent="-285750" algn="l">
              <a:buChar char="•"/>
              <a:defRPr sz="1650" b="0">
                <a:solidFill>
                  <a:srgbClr val="1E2A33"/>
                </a:solidFill>
              </a:defRPr>
            </a:pPr>
            <a:r>
              <a:t>• CLI remains available for direct search and debugging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E3B15-EB22-4A46-90BE-76CEC8E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08EE5-D8FE-4AD4-8096-84488F1F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8CF"/>
          </a:solidFill>
          <a:ln xmlns:a="http://schemas.openxmlformats.org/drawingml/2006/main" w="0">
            <a:solidFill>
              <a:srgbClr val="F4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41C91-CE66-4DE7-8CF6-C263F35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No external serving layer or hosted vector database is required in the current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42141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775F6D-13C7-473C-B194-39607D54A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848BA-0DCE-43F8-B443-CE19AF33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43E25-36FE-463B-B0E8-6E657732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A4B2F"/>
                </a:solidFill>
              </a:defRPr>
            </a:pPr>
            <a:r>
              <a:rPr sz="975" b="1">
                <a:solidFill>
                  <a:srgbClr val="BA4B2F"/>
                </a:solidFill>
              </a:rPr>
              <a:t>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46491-F690-4607-B854-2174C7B1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3"/>
                </a:solidFill>
              </a:defRPr>
            </a:pPr>
            <a:r>
              <a:rPr sz="2550" b="1">
                <a:solidFill>
                  <a:srgbClr val="1E2A33"/>
                </a:solidFill>
              </a:rPr>
              <a:t>Strengths, limits, and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F5D8B-B8D0-4244-A82E-9982DE0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The current application is already useful, but the highest-value improvements are in extraction quality and relevance tuning.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34737-5098-429E-B673-11EE6B43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FBD35-4628-43E7-B0EE-586B322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08388-73CD-49AA-9D19-1CFBCA45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Strengths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06979-2D6D-4984-8DD2-B1CC921A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Grounded on actual local indexes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Citations map to original Oracle URLs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Interactive browser Q&amp;A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Simple local deployment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C82F4-8EE6-4D82-ABE3-3D9903E2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D6BEC-35C5-4CA5-B10C-133A0CD4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64"/>
          </a:solidFill>
          <a:ln xmlns:a="http://schemas.openxmlformats.org/drawingml/2006/main" w="0">
            <a:solidFill>
              <a:srgbClr val="1F4F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C28DA-1C7B-410B-9C1C-E7D84C34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Current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25BA-CA29-4D82-BF8E-5C4A66D0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Oracle pages still carry navigation boilerplate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Blog ingestion was incomplete on the last crawl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Vector search uses a local file rather than a vector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B697A-1752-45B3-B252-47F44EAB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1430">
            <a:solidFill>
              <a:srgbClr val="D6CC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05009-2BFA-46F9-B1E8-D7E2F3F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B2F"/>
          </a:solidFill>
          <a:ln xmlns:a="http://schemas.openxmlformats.org/drawingml/2006/main" w="0">
            <a:solidFill>
              <a:srgbClr val="BA4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4D1C8-6AC6-407E-9715-6126E39C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A33"/>
                </a:solidFill>
              </a:defRPr>
            </a:pPr>
            <a:r>
              <a:rPr sz="1575" b="1">
                <a:solidFill>
                  <a:srgbClr val="1E2A33"/>
                </a:solidFill>
              </a:rPr>
              <a:t>Next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589AA-9921-4653-B2EF-617B13A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Improve page cleaning and chunk filtering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Repair blog crawling for broader source coverage</a:t>
            </a:r>
          </a:p>
          <a:p xmlns:a="http://schemas.openxmlformats.org/drawingml/2006/main">
            <a:pPr algn="l">
              <a:defRPr sz="1350" b="0">
                <a:solidFill>
                  <a:srgbClr val="5E6C77"/>
                </a:solidFill>
              </a:defRPr>
            </a:pPr>
            <a:r>
              <a:rPr sz="1350" b="0">
                <a:solidFill>
                  <a:srgbClr val="5E6C77"/>
                </a:solidFill>
              </a:rPr>
              <a:t>Optionally upgrade the vector layer to Qdrant, pgvector, or FAISS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4171D-6794-45A0-B710-BA0C92E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979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4F64"/>
                </a:solidFill>
              </a:defRPr>
            </a:pPr>
            <a:r>
              <a:rPr sz="1575" b="1">
                <a:solidFill>
                  <a:srgbClr val="1F4F64"/>
                </a:solidFill>
              </a:rPr>
              <a:t>Recommended near-term path: improve extraction quality first, then upgrade the vector backend if scale or recall demands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77859-AD88-479F-B6F8-0FF4786E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77"/>
                </a:solidFill>
              </a:defRPr>
            </a:pPr>
            <a:r>
              <a:rPr sz="750" b="0">
                <a:solidFill>
                  <a:srgbClr val="5E6C77"/>
                </a:solidFill>
              </a:rPr>
              <a:t>This deck describes the application as built locally in the current workspace on April 20, 2026.</a:t>
            </a:r>
          </a:p>
        </p:txBody>
      </p:sp>
    </p:spTree>
    <p:extLst>
      <p:ext uri="{BB962C8B-B14F-4D97-AF65-F5344CB8AC3E}">
        <p14:creationId xmlns:p14="http://schemas.microsoft.com/office/powerpoint/2010/main" val="1639507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2026-04-20T15:04:11.1050000Z</dcterms:created>
  <dcterms:modified xsi:type="dcterms:W3CDTF">2026-04-20T15:04:11.1050000Z</dcterms:modified>
</coreProperties>
</file>